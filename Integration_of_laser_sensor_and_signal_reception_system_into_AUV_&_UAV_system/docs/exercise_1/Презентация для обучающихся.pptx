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+Ealo17c2z/aZZTgvQ16hQQ8y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337175-956C-46EF-8E92-5FDD53955E48}">
  <a:tblStyle styleId="{59337175-956C-46EF-8E92-5FDD53955E4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e2d98c39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0e2d98c39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0e2d98c399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0e2d98c399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0e2d98c399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30e2d98c399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0e2d98c399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30e2d98c399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0e2d98c399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0e2d98c399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0e2d98c399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g30e2d98c399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0e2d98c399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0e2d98c399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0e2d98c399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30e2d98c399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38100" marR="0" algn="r">
              <a:lnSpc>
                <a:spcPct val="10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r">
              <a:lnSpc>
                <a:spcPct val="10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r">
              <a:lnSpc>
                <a:spcPct val="10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r">
              <a:lnSpc>
                <a:spcPct val="10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r">
              <a:lnSpc>
                <a:spcPct val="10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r">
              <a:lnSpc>
                <a:spcPct val="10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r">
              <a:lnSpc>
                <a:spcPct val="10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r">
              <a:lnSpc>
                <a:spcPct val="10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r">
              <a:lnSpc>
                <a:spcPct val="10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0853" y="1494938"/>
            <a:ext cx="2434950" cy="445073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8"/>
          <p:cNvSpPr txBox="1"/>
          <p:nvPr/>
        </p:nvSpPr>
        <p:spPr>
          <a:xfrm>
            <a:off x="0" y="0"/>
            <a:ext cx="12192000" cy="36988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EBF7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  Игровой автомат на карточках</a:t>
            </a:r>
            <a:endParaRPr b="1" i="0" sz="1800" u="none" cap="none" strike="noStrike">
              <a:solidFill>
                <a:srgbClr val="DEEBF7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6" name="Google Shape;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0086" y="158623"/>
            <a:ext cx="1629946" cy="767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Титульный слайд">
  <p:cSld name="5_Титульный слайд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/>
          <p:nvPr/>
        </p:nvSpPr>
        <p:spPr>
          <a:xfrm>
            <a:off x="1609633" y="442291"/>
            <a:ext cx="8715098" cy="6341064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0535712" y="4179623"/>
            <a:ext cx="1424473" cy="2603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74" y="4179624"/>
            <a:ext cx="1424473" cy="260373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9"/>
          <p:cNvSpPr txBox="1"/>
          <p:nvPr/>
        </p:nvSpPr>
        <p:spPr>
          <a:xfrm>
            <a:off x="0" y="0"/>
            <a:ext cx="12192000" cy="36988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EBF7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  Игровой автомат на карточках</a:t>
            </a:r>
            <a:endParaRPr b="1" i="0" sz="1800" u="none" cap="none" strike="noStrike">
              <a:solidFill>
                <a:srgbClr val="DEEBF7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32" name="Google Shape;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0086" y="158623"/>
            <a:ext cx="1629946" cy="767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20"/>
          <p:cNvCxnSpPr/>
          <p:nvPr/>
        </p:nvCxnSpPr>
        <p:spPr>
          <a:xfrm>
            <a:off x="6096000" y="756745"/>
            <a:ext cx="0" cy="588579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" name="Google Shape;35;p20"/>
          <p:cNvSpPr/>
          <p:nvPr/>
        </p:nvSpPr>
        <p:spPr>
          <a:xfrm>
            <a:off x="169312" y="671437"/>
            <a:ext cx="656466" cy="656466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0"/>
          <p:cNvSpPr/>
          <p:nvPr/>
        </p:nvSpPr>
        <p:spPr>
          <a:xfrm>
            <a:off x="6274379" y="671437"/>
            <a:ext cx="656466" cy="656466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0"/>
          <p:cNvSpPr txBox="1"/>
          <p:nvPr/>
        </p:nvSpPr>
        <p:spPr>
          <a:xfrm>
            <a:off x="0" y="5233610"/>
            <a:ext cx="12192000" cy="1653622"/>
          </a:xfrm>
          <a:prstGeom prst="rect">
            <a:avLst/>
          </a:prstGeom>
          <a:solidFill>
            <a:srgbClr val="D8D8D8">
              <a:alpha val="2235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DEEBF7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38" name="Google Shape;38;p20"/>
          <p:cNvGrpSpPr/>
          <p:nvPr/>
        </p:nvGrpSpPr>
        <p:grpSpPr>
          <a:xfrm>
            <a:off x="0" y="0"/>
            <a:ext cx="12192000" cy="554646"/>
            <a:chOff x="0" y="0"/>
            <a:chExt cx="12192000" cy="554646"/>
          </a:xfrm>
        </p:grpSpPr>
        <p:sp>
          <p:nvSpPr>
            <p:cNvPr id="39" name="Google Shape;39;p20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grpSp>
          <p:nvGrpSpPr>
            <p:cNvPr id="40" name="Google Shape;40;p20"/>
            <p:cNvGrpSpPr/>
            <p:nvPr/>
          </p:nvGrpSpPr>
          <p:grpSpPr>
            <a:xfrm>
              <a:off x="9804152" y="20993"/>
              <a:ext cx="1173001" cy="502584"/>
              <a:chOff x="300308" y="5671384"/>
              <a:chExt cx="2120383" cy="908497"/>
            </a:xfrm>
          </p:grpSpPr>
          <p:pic>
            <p:nvPicPr>
              <p:cNvPr id="41" name="Google Shape;41;p20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300308" y="5671384"/>
                <a:ext cx="1929788" cy="90849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42" name="Google Shape;42;p20"/>
              <p:cNvCxnSpPr/>
              <p:nvPr/>
            </p:nvCxnSpPr>
            <p:spPr>
              <a:xfrm>
                <a:off x="2420691" y="5769162"/>
                <a:ext cx="0" cy="810719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pic>
        <p:nvPicPr>
          <p:cNvPr id="43" name="Google Shape;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0795" y="45267"/>
            <a:ext cx="1067563" cy="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0"/>
          <p:cNvSpPr txBox="1"/>
          <p:nvPr/>
        </p:nvSpPr>
        <p:spPr>
          <a:xfrm>
            <a:off x="168402" y="75692"/>
            <a:ext cx="66995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Автоматическая система распознавания объектов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/>
          <p:nvPr/>
        </p:nvSpPr>
        <p:spPr>
          <a:xfrm>
            <a:off x="169312" y="671437"/>
            <a:ext cx="656466" cy="656466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1"/>
          <p:cNvSpPr txBox="1"/>
          <p:nvPr/>
        </p:nvSpPr>
        <p:spPr>
          <a:xfrm>
            <a:off x="0" y="5233610"/>
            <a:ext cx="12192000" cy="1653622"/>
          </a:xfrm>
          <a:prstGeom prst="rect">
            <a:avLst/>
          </a:prstGeom>
          <a:solidFill>
            <a:srgbClr val="D8D8D8">
              <a:alpha val="2235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DEEBF7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48" name="Google Shape;48;p21"/>
          <p:cNvGrpSpPr/>
          <p:nvPr/>
        </p:nvGrpSpPr>
        <p:grpSpPr>
          <a:xfrm>
            <a:off x="0" y="0"/>
            <a:ext cx="12192000" cy="554646"/>
            <a:chOff x="0" y="0"/>
            <a:chExt cx="12192000" cy="554646"/>
          </a:xfrm>
        </p:grpSpPr>
        <p:sp>
          <p:nvSpPr>
            <p:cNvPr id="49" name="Google Shape;49;p21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grpSp>
          <p:nvGrpSpPr>
            <p:cNvPr id="50" name="Google Shape;50;p21"/>
            <p:cNvGrpSpPr/>
            <p:nvPr/>
          </p:nvGrpSpPr>
          <p:grpSpPr>
            <a:xfrm>
              <a:off x="9804152" y="20993"/>
              <a:ext cx="1173001" cy="502584"/>
              <a:chOff x="300308" y="5671384"/>
              <a:chExt cx="2120383" cy="908497"/>
            </a:xfrm>
          </p:grpSpPr>
          <p:pic>
            <p:nvPicPr>
              <p:cNvPr id="51" name="Google Shape;51;p21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300308" y="5671384"/>
                <a:ext cx="1929788" cy="90849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52" name="Google Shape;52;p21"/>
              <p:cNvCxnSpPr/>
              <p:nvPr/>
            </p:nvCxnSpPr>
            <p:spPr>
              <a:xfrm>
                <a:off x="2420691" y="5769162"/>
                <a:ext cx="0" cy="810719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pic>
        <p:nvPicPr>
          <p:cNvPr id="53" name="Google Shape;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0795" y="45267"/>
            <a:ext cx="1067563" cy="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1"/>
          <p:cNvSpPr txBox="1"/>
          <p:nvPr/>
        </p:nvSpPr>
        <p:spPr>
          <a:xfrm>
            <a:off x="168402" y="75692"/>
            <a:ext cx="66995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Автоматическая система распознавания объектов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22"/>
          <p:cNvGrpSpPr/>
          <p:nvPr/>
        </p:nvGrpSpPr>
        <p:grpSpPr>
          <a:xfrm>
            <a:off x="241176" y="960440"/>
            <a:ext cx="11709647" cy="4248119"/>
            <a:chOff x="92456" y="1464755"/>
            <a:chExt cx="8799544" cy="2880000"/>
          </a:xfrm>
        </p:grpSpPr>
        <p:sp>
          <p:nvSpPr>
            <p:cNvPr id="57" name="Google Shape;57;p22"/>
            <p:cNvSpPr/>
            <p:nvPr/>
          </p:nvSpPr>
          <p:spPr>
            <a:xfrm>
              <a:off x="4571589" y="1464755"/>
              <a:ext cx="4320411" cy="2880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2"/>
            <p:cNvSpPr/>
            <p:nvPr/>
          </p:nvSpPr>
          <p:spPr>
            <a:xfrm>
              <a:off x="92456" y="1464755"/>
              <a:ext cx="4320411" cy="2880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22"/>
          <p:cNvSpPr/>
          <p:nvPr/>
        </p:nvSpPr>
        <p:spPr>
          <a:xfrm>
            <a:off x="389942" y="1148752"/>
            <a:ext cx="656466" cy="656466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92555" y="5208559"/>
            <a:ext cx="806890" cy="147487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2"/>
          <p:cNvSpPr txBox="1"/>
          <p:nvPr/>
        </p:nvSpPr>
        <p:spPr>
          <a:xfrm>
            <a:off x="0" y="0"/>
            <a:ext cx="12192000" cy="554646"/>
          </a:xfrm>
          <a:prstGeom prst="rect">
            <a:avLst/>
          </a:prstGeom>
          <a:solidFill>
            <a:srgbClr val="D8D8D8">
              <a:alpha val="1647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DEEBF7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62" name="Google Shape;62;p22"/>
          <p:cNvGrpSpPr/>
          <p:nvPr/>
        </p:nvGrpSpPr>
        <p:grpSpPr>
          <a:xfrm>
            <a:off x="9804152" y="20993"/>
            <a:ext cx="2306298" cy="512660"/>
            <a:chOff x="9804152" y="779109"/>
            <a:chExt cx="2306298" cy="512660"/>
          </a:xfrm>
        </p:grpSpPr>
        <p:sp>
          <p:nvSpPr>
            <p:cNvPr id="63" name="Google Shape;63;p22"/>
            <p:cNvSpPr/>
            <p:nvPr/>
          </p:nvSpPr>
          <p:spPr>
            <a:xfrm>
              <a:off x="11560968" y="1021016"/>
              <a:ext cx="64137" cy="64137"/>
            </a:xfrm>
            <a:prstGeom prst="ellipse">
              <a:avLst/>
            </a:prstGeom>
            <a:solidFill>
              <a:srgbClr val="F36A15"/>
            </a:solidFill>
            <a:ln cap="flat" cmpd="sng" w="12700">
              <a:solidFill>
                <a:srgbClr val="F36A1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" name="Google Shape;64;p22"/>
            <p:cNvGrpSpPr/>
            <p:nvPr/>
          </p:nvGrpSpPr>
          <p:grpSpPr>
            <a:xfrm>
              <a:off x="9804152" y="779109"/>
              <a:ext cx="2306298" cy="512660"/>
              <a:chOff x="300308" y="5671384"/>
              <a:chExt cx="4168994" cy="926711"/>
            </a:xfrm>
          </p:grpSpPr>
          <p:pic>
            <p:nvPicPr>
              <p:cNvPr id="65" name="Google Shape;65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0308" y="5671384"/>
                <a:ext cx="1929788" cy="908497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66" name="Google Shape;66;p22"/>
              <p:cNvGrpSpPr/>
              <p:nvPr/>
            </p:nvGrpSpPr>
            <p:grpSpPr>
              <a:xfrm>
                <a:off x="2420691" y="5751552"/>
                <a:ext cx="2048611" cy="846543"/>
                <a:chOff x="2420691" y="5751552"/>
                <a:chExt cx="2048611" cy="846543"/>
              </a:xfrm>
            </p:grpSpPr>
            <p:pic>
              <p:nvPicPr>
                <p:cNvPr id="67" name="Google Shape;67;p22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2611287" y="5751552"/>
                  <a:ext cx="1858015" cy="8465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68" name="Google Shape;68;p22"/>
                <p:cNvCxnSpPr/>
                <p:nvPr/>
              </p:nvCxnSpPr>
              <p:spPr>
                <a:xfrm>
                  <a:off x="2420691" y="5769162"/>
                  <a:ext cx="0" cy="810719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69" name="Google Shape;69;p22"/>
          <p:cNvSpPr txBox="1"/>
          <p:nvPr/>
        </p:nvSpPr>
        <p:spPr>
          <a:xfrm>
            <a:off x="168403" y="75692"/>
            <a:ext cx="56607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Игровой автомат на карточках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23"/>
          <p:cNvGrpSpPr/>
          <p:nvPr/>
        </p:nvGrpSpPr>
        <p:grpSpPr>
          <a:xfrm>
            <a:off x="241176" y="960440"/>
            <a:ext cx="11709647" cy="4248119"/>
            <a:chOff x="92456" y="1464755"/>
            <a:chExt cx="8799544" cy="2880000"/>
          </a:xfrm>
        </p:grpSpPr>
        <p:sp>
          <p:nvSpPr>
            <p:cNvPr id="72" name="Google Shape;72;p23"/>
            <p:cNvSpPr/>
            <p:nvPr/>
          </p:nvSpPr>
          <p:spPr>
            <a:xfrm>
              <a:off x="4571589" y="1464755"/>
              <a:ext cx="4320411" cy="2880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3"/>
            <p:cNvSpPr/>
            <p:nvPr/>
          </p:nvSpPr>
          <p:spPr>
            <a:xfrm>
              <a:off x="92456" y="1464755"/>
              <a:ext cx="4320411" cy="2880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" name="Google Shape;74;p23"/>
          <p:cNvSpPr/>
          <p:nvPr/>
        </p:nvSpPr>
        <p:spPr>
          <a:xfrm>
            <a:off x="6382281" y="1103711"/>
            <a:ext cx="656466" cy="656466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92555" y="5208559"/>
            <a:ext cx="806890" cy="147487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3"/>
          <p:cNvSpPr txBox="1"/>
          <p:nvPr/>
        </p:nvSpPr>
        <p:spPr>
          <a:xfrm>
            <a:off x="0" y="0"/>
            <a:ext cx="12192000" cy="554646"/>
          </a:xfrm>
          <a:prstGeom prst="rect">
            <a:avLst/>
          </a:prstGeom>
          <a:solidFill>
            <a:srgbClr val="D8D8D8">
              <a:alpha val="1647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DEEBF7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77" name="Google Shape;77;p23"/>
          <p:cNvGrpSpPr/>
          <p:nvPr/>
        </p:nvGrpSpPr>
        <p:grpSpPr>
          <a:xfrm>
            <a:off x="9804152" y="20993"/>
            <a:ext cx="2306298" cy="512660"/>
            <a:chOff x="9804152" y="779109"/>
            <a:chExt cx="2306298" cy="512660"/>
          </a:xfrm>
        </p:grpSpPr>
        <p:sp>
          <p:nvSpPr>
            <p:cNvPr id="78" name="Google Shape;78;p23"/>
            <p:cNvSpPr/>
            <p:nvPr/>
          </p:nvSpPr>
          <p:spPr>
            <a:xfrm>
              <a:off x="11560968" y="1021016"/>
              <a:ext cx="64137" cy="64137"/>
            </a:xfrm>
            <a:prstGeom prst="ellipse">
              <a:avLst/>
            </a:prstGeom>
            <a:solidFill>
              <a:srgbClr val="F36A15"/>
            </a:solidFill>
            <a:ln cap="flat" cmpd="sng" w="12700">
              <a:solidFill>
                <a:srgbClr val="F36A1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" name="Google Shape;79;p23"/>
            <p:cNvGrpSpPr/>
            <p:nvPr/>
          </p:nvGrpSpPr>
          <p:grpSpPr>
            <a:xfrm>
              <a:off x="9804152" y="779109"/>
              <a:ext cx="2306298" cy="512660"/>
              <a:chOff x="300308" y="5671384"/>
              <a:chExt cx="4168994" cy="926711"/>
            </a:xfrm>
          </p:grpSpPr>
          <p:pic>
            <p:nvPicPr>
              <p:cNvPr id="80" name="Google Shape;80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0308" y="5671384"/>
                <a:ext cx="1929788" cy="908497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1" name="Google Shape;81;p23"/>
              <p:cNvGrpSpPr/>
              <p:nvPr/>
            </p:nvGrpSpPr>
            <p:grpSpPr>
              <a:xfrm>
                <a:off x="2420691" y="5751552"/>
                <a:ext cx="2048611" cy="846543"/>
                <a:chOff x="2420691" y="5751552"/>
                <a:chExt cx="2048611" cy="846543"/>
              </a:xfrm>
            </p:grpSpPr>
            <p:pic>
              <p:nvPicPr>
                <p:cNvPr id="82" name="Google Shape;82;p23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2611287" y="5751552"/>
                  <a:ext cx="1858015" cy="8465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83" name="Google Shape;83;p23"/>
                <p:cNvCxnSpPr/>
                <p:nvPr/>
              </p:nvCxnSpPr>
              <p:spPr>
                <a:xfrm>
                  <a:off x="2420691" y="5769162"/>
                  <a:ext cx="0" cy="810719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84" name="Google Shape;84;p23"/>
          <p:cNvSpPr txBox="1"/>
          <p:nvPr/>
        </p:nvSpPr>
        <p:spPr>
          <a:xfrm>
            <a:off x="168403" y="75692"/>
            <a:ext cx="56607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Игровой автомат на карточках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Титульный слайд">
  <p:cSld name="6_Титульный слайд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/>
          <p:nvPr/>
        </p:nvSpPr>
        <p:spPr>
          <a:xfrm>
            <a:off x="3103845" y="960440"/>
            <a:ext cx="5749217" cy="4248119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4"/>
          <p:cNvSpPr/>
          <p:nvPr/>
        </p:nvSpPr>
        <p:spPr>
          <a:xfrm>
            <a:off x="3284520" y="1103711"/>
            <a:ext cx="656466" cy="656466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4817" y="5208559"/>
            <a:ext cx="806890" cy="147487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4"/>
          <p:cNvSpPr txBox="1"/>
          <p:nvPr/>
        </p:nvSpPr>
        <p:spPr>
          <a:xfrm>
            <a:off x="0" y="0"/>
            <a:ext cx="12192000" cy="554646"/>
          </a:xfrm>
          <a:prstGeom prst="rect">
            <a:avLst/>
          </a:prstGeom>
          <a:solidFill>
            <a:srgbClr val="D8D8D8">
              <a:alpha val="1647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DEEBF7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90" name="Google Shape;90;p24"/>
          <p:cNvGrpSpPr/>
          <p:nvPr/>
        </p:nvGrpSpPr>
        <p:grpSpPr>
          <a:xfrm>
            <a:off x="9804152" y="20993"/>
            <a:ext cx="2306298" cy="512660"/>
            <a:chOff x="9804152" y="779109"/>
            <a:chExt cx="2306298" cy="512660"/>
          </a:xfrm>
        </p:grpSpPr>
        <p:sp>
          <p:nvSpPr>
            <p:cNvPr id="91" name="Google Shape;91;p24"/>
            <p:cNvSpPr/>
            <p:nvPr/>
          </p:nvSpPr>
          <p:spPr>
            <a:xfrm>
              <a:off x="11560968" y="1021016"/>
              <a:ext cx="64137" cy="64137"/>
            </a:xfrm>
            <a:prstGeom prst="ellipse">
              <a:avLst/>
            </a:prstGeom>
            <a:solidFill>
              <a:srgbClr val="F36A15"/>
            </a:solidFill>
            <a:ln cap="flat" cmpd="sng" w="12700">
              <a:solidFill>
                <a:srgbClr val="F36A1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" name="Google Shape;92;p24"/>
            <p:cNvGrpSpPr/>
            <p:nvPr/>
          </p:nvGrpSpPr>
          <p:grpSpPr>
            <a:xfrm>
              <a:off x="9804152" y="779109"/>
              <a:ext cx="2306298" cy="512660"/>
              <a:chOff x="300308" y="5671384"/>
              <a:chExt cx="4168994" cy="926711"/>
            </a:xfrm>
          </p:grpSpPr>
          <p:pic>
            <p:nvPicPr>
              <p:cNvPr id="93" name="Google Shape;93;p2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0308" y="5671384"/>
                <a:ext cx="1929788" cy="908497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94" name="Google Shape;94;p24"/>
              <p:cNvGrpSpPr/>
              <p:nvPr/>
            </p:nvGrpSpPr>
            <p:grpSpPr>
              <a:xfrm>
                <a:off x="2420691" y="5751552"/>
                <a:ext cx="2048611" cy="846543"/>
                <a:chOff x="2420691" y="5751552"/>
                <a:chExt cx="2048611" cy="846543"/>
              </a:xfrm>
            </p:grpSpPr>
            <p:pic>
              <p:nvPicPr>
                <p:cNvPr id="95" name="Google Shape;95;p24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2611287" y="5751552"/>
                  <a:ext cx="1858015" cy="8465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96" name="Google Shape;96;p24"/>
                <p:cNvCxnSpPr/>
                <p:nvPr/>
              </p:nvCxnSpPr>
              <p:spPr>
                <a:xfrm>
                  <a:off x="2420691" y="5769162"/>
                  <a:ext cx="0" cy="810719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97" name="Google Shape;97;p24"/>
          <p:cNvSpPr txBox="1"/>
          <p:nvPr/>
        </p:nvSpPr>
        <p:spPr>
          <a:xfrm>
            <a:off x="168403" y="75692"/>
            <a:ext cx="56607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Игровой автомат на карточках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4" name="Google Shape;134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5" name="Google Shape;13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2" name="Google Shape;14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180450" y="1287828"/>
            <a:ext cx="118311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ru-RU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Занятие </a:t>
            </a:r>
            <a:r>
              <a:rPr b="1" lang="ru-RU" sz="4800">
                <a:solidFill>
                  <a:schemeClr val="dk1"/>
                </a:solidFill>
              </a:rPr>
              <a:t>6</a:t>
            </a:r>
            <a:endParaRPr b="1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800">
                <a:solidFill>
                  <a:schemeClr val="dk1"/>
                </a:solidFill>
              </a:rPr>
              <a:t>Н</a:t>
            </a:r>
            <a:r>
              <a:rPr b="1" i="0" lang="ru-RU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овы</a:t>
            </a:r>
            <a:r>
              <a:rPr b="1" lang="ru-RU" sz="4800">
                <a:solidFill>
                  <a:schemeClr val="dk1"/>
                </a:solidFill>
              </a:rPr>
              <a:t>е</a:t>
            </a:r>
            <a:r>
              <a:rPr b="1" i="0" lang="ru-RU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сло</a:t>
            </a:r>
            <a:r>
              <a:rPr b="1" lang="ru-RU" sz="4800">
                <a:solidFill>
                  <a:schemeClr val="dk1"/>
                </a:solidFill>
              </a:rPr>
              <a:t>и</a:t>
            </a:r>
            <a:r>
              <a:rPr b="1" i="0" lang="ru-RU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сверточной нейросети</a:t>
            </a:r>
            <a:endParaRPr b="1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0" y="5609891"/>
            <a:ext cx="12192000" cy="1258724"/>
          </a:xfrm>
          <a:prstGeom prst="rect">
            <a:avLst/>
          </a:prstGeom>
          <a:solidFill>
            <a:srgbClr val="D8D8D8">
              <a:alpha val="2235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DEEBF7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64" name="Google Shape;164;p1"/>
          <p:cNvGrpSpPr/>
          <p:nvPr/>
        </p:nvGrpSpPr>
        <p:grpSpPr>
          <a:xfrm>
            <a:off x="580765" y="5837072"/>
            <a:ext cx="1840440" cy="788553"/>
            <a:chOff x="300308" y="5671384"/>
            <a:chExt cx="2120383" cy="908497"/>
          </a:xfrm>
        </p:grpSpPr>
        <p:pic>
          <p:nvPicPr>
            <p:cNvPr id="165" name="Google Shape;165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0308" y="5671384"/>
              <a:ext cx="1929788" cy="90849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6" name="Google Shape;166;p1"/>
            <p:cNvCxnSpPr/>
            <p:nvPr/>
          </p:nvCxnSpPr>
          <p:spPr>
            <a:xfrm>
              <a:off x="2420691" y="5769162"/>
              <a:ext cx="0" cy="810719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g30e2d98c399_0_0"/>
          <p:cNvGrpSpPr/>
          <p:nvPr/>
        </p:nvGrpSpPr>
        <p:grpSpPr>
          <a:xfrm>
            <a:off x="99975" y="0"/>
            <a:ext cx="12192000" cy="948235"/>
            <a:chOff x="0" y="0"/>
            <a:chExt cx="12192000" cy="948235"/>
          </a:xfrm>
        </p:grpSpPr>
        <p:sp>
          <p:nvSpPr>
            <p:cNvPr id="172" name="Google Shape;172;g30e2d98c399_0_0"/>
            <p:cNvSpPr txBox="1"/>
            <p:nvPr/>
          </p:nvSpPr>
          <p:spPr>
            <a:xfrm>
              <a:off x="0" y="0"/>
              <a:ext cx="12192000" cy="369300"/>
            </a:xfrm>
            <a:prstGeom prst="rect">
              <a:avLst/>
            </a:prstGeom>
            <a:solidFill>
              <a:srgbClr val="D8D8D8">
                <a:alpha val="2235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173" name="Google Shape;173;g30e2d98c399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5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g30e2d98c399_0_0"/>
            <p:cNvSpPr txBox="1"/>
            <p:nvPr/>
          </p:nvSpPr>
          <p:spPr>
            <a:xfrm>
              <a:off x="804275" y="24835"/>
              <a:ext cx="95490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ru-RU" sz="1800">
                  <a:solidFill>
                    <a:schemeClr val="dk1"/>
                  </a:solidFill>
                </a:rPr>
                <a:t>Задание 1. Измените структуру уже созданной вами нейросети или откройте проект из папки «project». Чтобы улучшить работу нейросети, используйте изученные на сегодняшнем занятии слои. Обучите нейросеть заново.</a:t>
              </a:r>
              <a:endParaRPr b="1" i="1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g30e2d98c399_0_0"/>
          <p:cNvSpPr txBox="1"/>
          <p:nvPr/>
        </p:nvSpPr>
        <p:spPr>
          <a:xfrm>
            <a:off x="1321500" y="1321860"/>
            <a:ext cx="95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На данный момент мы имеем следующую структуру нейросети</a:t>
            </a:r>
            <a:endParaRPr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id="176" name="Google Shape;176;g30e2d98c399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0675" y="1853260"/>
            <a:ext cx="8610600" cy="46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g30e2d98c399_0_11"/>
          <p:cNvGrpSpPr/>
          <p:nvPr/>
        </p:nvGrpSpPr>
        <p:grpSpPr>
          <a:xfrm>
            <a:off x="99975" y="0"/>
            <a:ext cx="12192000" cy="528615"/>
            <a:chOff x="0" y="0"/>
            <a:chExt cx="12192000" cy="528615"/>
          </a:xfrm>
        </p:grpSpPr>
        <p:sp>
          <p:nvSpPr>
            <p:cNvPr id="182" name="Google Shape;182;g30e2d98c399_0_11"/>
            <p:cNvSpPr txBox="1"/>
            <p:nvPr/>
          </p:nvSpPr>
          <p:spPr>
            <a:xfrm>
              <a:off x="0" y="0"/>
              <a:ext cx="12192000" cy="369300"/>
            </a:xfrm>
            <a:prstGeom prst="rect">
              <a:avLst/>
            </a:prstGeom>
            <a:solidFill>
              <a:srgbClr val="D8D8D8">
                <a:alpha val="2235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183" name="Google Shape;183;g30e2d98c399_0_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5" cy="502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" name="Google Shape;184;g30e2d98c399_0_11"/>
          <p:cNvSpPr txBox="1"/>
          <p:nvPr/>
        </p:nvSpPr>
        <p:spPr>
          <a:xfrm>
            <a:off x="78600" y="1154150"/>
            <a:ext cx="1203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</a:rPr>
              <a:t>Шаг 1.</a:t>
            </a:r>
            <a:r>
              <a:rPr lang="ru-RU" sz="1800">
                <a:solidFill>
                  <a:schemeClr val="dk1"/>
                </a:solidFill>
              </a:rPr>
              <a:t> Выберем в качестве функции метрики F1-score и запустим обучение на 15 эпохах.</a:t>
            </a:r>
            <a:endParaRPr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id="185" name="Google Shape;185;g30e2d98c399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00" y="1704275"/>
            <a:ext cx="39624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0e2d98c399_0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96475" y="1523450"/>
            <a:ext cx="3476891" cy="502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0e2d98c399_0_11"/>
          <p:cNvSpPr txBox="1"/>
          <p:nvPr/>
        </p:nvSpPr>
        <p:spPr>
          <a:xfrm>
            <a:off x="0" y="2647100"/>
            <a:ext cx="83907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На изображениях представлен пример результата обучения нейросети.</a:t>
            </a:r>
            <a:r>
              <a:rPr b="1" lang="ru-RU" sz="1800">
                <a:solidFill>
                  <a:schemeClr val="dk1"/>
                </a:solidFill>
              </a:rPr>
              <a:t> Ваши данные могут отличаться от приведенного примера.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Мы видим, что результаты уже хорошие. Метрика F1-score показала результат 85% на обучающей выборке и 74% на тестовой.</a:t>
            </a:r>
            <a:br>
              <a:rPr lang="ru-RU" sz="1800">
                <a:solidFill>
                  <a:schemeClr val="dk1"/>
                </a:solidFill>
              </a:rPr>
            </a:br>
            <a:br>
              <a:rPr lang="ru-RU" sz="1800">
                <a:solidFill>
                  <a:schemeClr val="dk1"/>
                </a:solidFill>
              </a:rPr>
            </a:br>
            <a:r>
              <a:rPr lang="ru-RU" sz="1800">
                <a:solidFill>
                  <a:schemeClr val="dk1"/>
                </a:solidFill>
              </a:rPr>
              <a:t>Сегодня мы попробуем улучшить этот результат, используя изученные на занятии новые слои нейросети.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g30e2d98c399_0_24"/>
          <p:cNvGrpSpPr/>
          <p:nvPr/>
        </p:nvGrpSpPr>
        <p:grpSpPr>
          <a:xfrm>
            <a:off x="99975" y="0"/>
            <a:ext cx="12192000" cy="528615"/>
            <a:chOff x="0" y="0"/>
            <a:chExt cx="12192000" cy="528615"/>
          </a:xfrm>
        </p:grpSpPr>
        <p:sp>
          <p:nvSpPr>
            <p:cNvPr id="193" name="Google Shape;193;g30e2d98c399_0_24"/>
            <p:cNvSpPr txBox="1"/>
            <p:nvPr/>
          </p:nvSpPr>
          <p:spPr>
            <a:xfrm>
              <a:off x="0" y="0"/>
              <a:ext cx="12192000" cy="369300"/>
            </a:xfrm>
            <a:prstGeom prst="rect">
              <a:avLst/>
            </a:prstGeom>
            <a:solidFill>
              <a:srgbClr val="D8D8D8">
                <a:alpha val="2235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194" name="Google Shape;194;g30e2d98c399_0_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5" cy="502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g30e2d98c399_0_24"/>
          <p:cNvSpPr txBox="1"/>
          <p:nvPr/>
        </p:nvSpPr>
        <p:spPr>
          <a:xfrm>
            <a:off x="78600" y="1154150"/>
            <a:ext cx="1203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</a:rPr>
              <a:t>Шаг 2.</a:t>
            </a:r>
            <a:r>
              <a:rPr lang="ru-RU" sz="1800">
                <a:solidFill>
                  <a:schemeClr val="dk1"/>
                </a:solidFill>
              </a:rPr>
              <a:t> Первое, что можно сделать для улучшения качества обучения нейросети - добавить слой нормализации.</a:t>
            </a:r>
            <a:endParaRPr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196" name="Google Shape;196;g30e2d98c399_0_24"/>
          <p:cNvSpPr txBox="1"/>
          <p:nvPr/>
        </p:nvSpPr>
        <p:spPr>
          <a:xfrm>
            <a:off x="0" y="1909875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Добавим слой BatchNormalization в архитектуру нашей нейросети, расположив его после активаций.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97" name="Google Shape;197;g30e2d98c399_0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7438" y="2334575"/>
            <a:ext cx="6157136" cy="427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g30e2d98c399_0_36"/>
          <p:cNvGrpSpPr/>
          <p:nvPr/>
        </p:nvGrpSpPr>
        <p:grpSpPr>
          <a:xfrm>
            <a:off x="99975" y="0"/>
            <a:ext cx="12192000" cy="528615"/>
            <a:chOff x="0" y="0"/>
            <a:chExt cx="12192000" cy="528615"/>
          </a:xfrm>
        </p:grpSpPr>
        <p:sp>
          <p:nvSpPr>
            <p:cNvPr id="203" name="Google Shape;203;g30e2d98c399_0_36"/>
            <p:cNvSpPr txBox="1"/>
            <p:nvPr/>
          </p:nvSpPr>
          <p:spPr>
            <a:xfrm>
              <a:off x="0" y="0"/>
              <a:ext cx="12192000" cy="369300"/>
            </a:xfrm>
            <a:prstGeom prst="rect">
              <a:avLst/>
            </a:prstGeom>
            <a:solidFill>
              <a:srgbClr val="D8D8D8">
                <a:alpha val="2235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04" name="Google Shape;204;g30e2d98c399_0_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5" cy="502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" name="Google Shape;205;g30e2d98c399_0_36"/>
          <p:cNvSpPr txBox="1"/>
          <p:nvPr/>
        </p:nvSpPr>
        <p:spPr>
          <a:xfrm>
            <a:off x="78600" y="1154150"/>
            <a:ext cx="1203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</a:rPr>
              <a:t>Шаг 3.</a:t>
            </a:r>
            <a:r>
              <a:rPr lang="ru-RU" sz="1800">
                <a:solidFill>
                  <a:schemeClr val="dk1"/>
                </a:solidFill>
              </a:rPr>
              <a:t> Важно, чтобы модель в процессе обучения не переобучалась.</a:t>
            </a:r>
            <a:endParaRPr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206" name="Google Shape;206;g30e2d98c399_0_36"/>
          <p:cNvSpPr txBox="1"/>
          <p:nvPr/>
        </p:nvSpPr>
        <p:spPr>
          <a:xfrm>
            <a:off x="591599" y="1772500"/>
            <a:ext cx="11521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Есть много способов, которые позволяют бороться с переобучением модели. Один из них мы уже используем в нашей архитектуре (Kernel regularizer, Bias regularizer).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Мы также можем добавить в нашу архитектуру отдельный слой регуляризации.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Добавим в нашу архитектуру слой Dropout, расположив его после слоев пулинга.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07" name="Google Shape;207;g30e2d98c399_0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4675" y="2973100"/>
            <a:ext cx="5482597" cy="370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g30e2d98c399_0_47"/>
          <p:cNvGrpSpPr/>
          <p:nvPr/>
        </p:nvGrpSpPr>
        <p:grpSpPr>
          <a:xfrm>
            <a:off x="99975" y="0"/>
            <a:ext cx="12192000" cy="528615"/>
            <a:chOff x="0" y="0"/>
            <a:chExt cx="12192000" cy="528615"/>
          </a:xfrm>
        </p:grpSpPr>
        <p:sp>
          <p:nvSpPr>
            <p:cNvPr id="213" name="Google Shape;213;g30e2d98c399_0_47"/>
            <p:cNvSpPr txBox="1"/>
            <p:nvPr/>
          </p:nvSpPr>
          <p:spPr>
            <a:xfrm>
              <a:off x="0" y="0"/>
              <a:ext cx="12192000" cy="369300"/>
            </a:xfrm>
            <a:prstGeom prst="rect">
              <a:avLst/>
            </a:prstGeom>
            <a:solidFill>
              <a:srgbClr val="D8D8D8">
                <a:alpha val="2235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14" name="Google Shape;214;g30e2d98c399_0_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5" cy="502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5" name="Google Shape;215;g30e2d98c399_0_47"/>
          <p:cNvSpPr txBox="1"/>
          <p:nvPr/>
        </p:nvSpPr>
        <p:spPr>
          <a:xfrm>
            <a:off x="78600" y="1154150"/>
            <a:ext cx="1203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</a:rPr>
              <a:t>Шаг 4.</a:t>
            </a:r>
            <a:r>
              <a:rPr lang="ru-RU" sz="1800">
                <a:solidFill>
                  <a:schemeClr val="dk1"/>
                </a:solidFill>
              </a:rPr>
              <a:t> Мы можем сделать нашу нейросеть более глубокой без существенного увеличения ее параметров.</a:t>
            </a:r>
            <a:endParaRPr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216" name="Google Shape;216;g30e2d98c399_0_47"/>
          <p:cNvSpPr txBox="1"/>
          <p:nvPr/>
        </p:nvSpPr>
        <p:spPr>
          <a:xfrm>
            <a:off x="563450" y="1647975"/>
            <a:ext cx="11155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Слой Add представляет собой операцию поэлементного сложения, что может быть очень полезно при обучении.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Скопируем первую строку нашей архитектуры. С помощью слоя Fork создадим 2 тензора, включающие в себя слои свертки, активации и нормализации. Объединим их с помощью слоя Add, после чего будут слои пулинга и регуляризации.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17" name="Google Shape;217;g30e2d98c399_0_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5888" y="3539800"/>
            <a:ext cx="9020175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g30e2d98c399_0_58"/>
          <p:cNvGrpSpPr/>
          <p:nvPr/>
        </p:nvGrpSpPr>
        <p:grpSpPr>
          <a:xfrm>
            <a:off x="99975" y="0"/>
            <a:ext cx="12192000" cy="528615"/>
            <a:chOff x="0" y="0"/>
            <a:chExt cx="12192000" cy="528615"/>
          </a:xfrm>
        </p:grpSpPr>
        <p:sp>
          <p:nvSpPr>
            <p:cNvPr id="223" name="Google Shape;223;g30e2d98c399_0_58"/>
            <p:cNvSpPr txBox="1"/>
            <p:nvPr/>
          </p:nvSpPr>
          <p:spPr>
            <a:xfrm>
              <a:off x="0" y="0"/>
              <a:ext cx="12192000" cy="369300"/>
            </a:xfrm>
            <a:prstGeom prst="rect">
              <a:avLst/>
            </a:prstGeom>
            <a:solidFill>
              <a:srgbClr val="D8D8D8">
                <a:alpha val="2235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24" name="Google Shape;224;g30e2d98c399_0_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5" cy="502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5" name="Google Shape;225;g30e2d98c399_0_58"/>
          <p:cNvSpPr txBox="1"/>
          <p:nvPr/>
        </p:nvSpPr>
        <p:spPr>
          <a:xfrm>
            <a:off x="760400" y="1154150"/>
            <a:ext cx="108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</a:rPr>
              <a:t>Шаг 5.</a:t>
            </a:r>
            <a:r>
              <a:rPr lang="ru-RU" sz="1800">
                <a:solidFill>
                  <a:schemeClr val="dk1"/>
                </a:solidFill>
              </a:rPr>
              <a:t> Проделаем ту же операцию с оставшимися 2 строками (не берем во внимание строку с полносвязным слоем) и объединим все в итоговую архитектуру нейросети.</a:t>
            </a:r>
            <a:endParaRPr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id="226" name="Google Shape;226;g30e2d98c399_0_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2788" y="1894850"/>
            <a:ext cx="6626380" cy="475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g30e2d98c399_0_69"/>
          <p:cNvGrpSpPr/>
          <p:nvPr/>
        </p:nvGrpSpPr>
        <p:grpSpPr>
          <a:xfrm>
            <a:off x="99975" y="0"/>
            <a:ext cx="12192000" cy="528615"/>
            <a:chOff x="0" y="0"/>
            <a:chExt cx="12192000" cy="528615"/>
          </a:xfrm>
        </p:grpSpPr>
        <p:sp>
          <p:nvSpPr>
            <p:cNvPr id="232" name="Google Shape;232;g30e2d98c399_0_69"/>
            <p:cNvSpPr txBox="1"/>
            <p:nvPr/>
          </p:nvSpPr>
          <p:spPr>
            <a:xfrm>
              <a:off x="0" y="0"/>
              <a:ext cx="12192000" cy="369300"/>
            </a:xfrm>
            <a:prstGeom prst="rect">
              <a:avLst/>
            </a:prstGeom>
            <a:solidFill>
              <a:srgbClr val="D8D8D8">
                <a:alpha val="2235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33" name="Google Shape;233;g30e2d98c399_0_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5" cy="502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4" name="Google Shape;234;g30e2d98c399_0_69"/>
          <p:cNvSpPr txBox="1"/>
          <p:nvPr/>
        </p:nvSpPr>
        <p:spPr>
          <a:xfrm>
            <a:off x="384375" y="745050"/>
            <a:ext cx="107793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</a:rPr>
              <a:t>Шаг 6.</a:t>
            </a:r>
            <a:r>
              <a:rPr lang="ru-RU" sz="1800">
                <a:solidFill>
                  <a:schemeClr val="dk1"/>
                </a:solidFill>
              </a:rPr>
              <a:t> Вы могли заметить, что в конце нашей архитектуры только 1 полносвязный слой. 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В некоторых сценариях бывает очень полезно делать в конце несколько полносвязных слоев для более детального анализа признаков.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Перед последним слоем Dense (с активацией softmax) добавим еще один слой Dense c гиперпараметром Units=256. После него добавим функцию активации ReLu, BatchNormalization и Dropout.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35" name="Google Shape;235;g30e2d98c399_0_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4325" y="2716150"/>
            <a:ext cx="5643347" cy="392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g30e2d98c399_0_81"/>
          <p:cNvGrpSpPr/>
          <p:nvPr/>
        </p:nvGrpSpPr>
        <p:grpSpPr>
          <a:xfrm>
            <a:off x="99975" y="0"/>
            <a:ext cx="12192000" cy="528615"/>
            <a:chOff x="0" y="0"/>
            <a:chExt cx="12192000" cy="528615"/>
          </a:xfrm>
        </p:grpSpPr>
        <p:sp>
          <p:nvSpPr>
            <p:cNvPr id="241" name="Google Shape;241;g30e2d98c399_0_81"/>
            <p:cNvSpPr txBox="1"/>
            <p:nvPr/>
          </p:nvSpPr>
          <p:spPr>
            <a:xfrm>
              <a:off x="0" y="0"/>
              <a:ext cx="12192000" cy="369300"/>
            </a:xfrm>
            <a:prstGeom prst="rect">
              <a:avLst/>
            </a:prstGeom>
            <a:solidFill>
              <a:srgbClr val="D8D8D8">
                <a:alpha val="2235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42" name="Google Shape;242;g30e2d98c399_0_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5" cy="502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3" name="Google Shape;243;g30e2d98c399_0_81"/>
          <p:cNvSpPr txBox="1"/>
          <p:nvPr/>
        </p:nvSpPr>
        <p:spPr>
          <a:xfrm>
            <a:off x="312750" y="1154150"/>
            <a:ext cx="8107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</a:rPr>
              <a:t>Шаг 7.</a:t>
            </a:r>
            <a:r>
              <a:rPr lang="ru-RU" sz="1800">
                <a:solidFill>
                  <a:schemeClr val="dk1"/>
                </a:solidFill>
              </a:rPr>
              <a:t> Запустим обучение полученной архитектуры нейросети на 15 эпохах.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Как видно, функция метрики выросла как на тренировочных, так и на тестовых данных.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44" name="Google Shape;244;g30e2d98c399_0_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3325" y="1655775"/>
            <a:ext cx="3529247" cy="5029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9"/>
          <p:cNvGrpSpPr/>
          <p:nvPr/>
        </p:nvGrpSpPr>
        <p:grpSpPr>
          <a:xfrm>
            <a:off x="99975" y="0"/>
            <a:ext cx="12192000" cy="671335"/>
            <a:chOff x="0" y="0"/>
            <a:chExt cx="12192000" cy="671335"/>
          </a:xfrm>
        </p:grpSpPr>
        <p:sp>
          <p:nvSpPr>
            <p:cNvPr id="250" name="Google Shape;250;p9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51" name="Google Shape;251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9"/>
            <p:cNvSpPr txBox="1"/>
            <p:nvPr/>
          </p:nvSpPr>
          <p:spPr>
            <a:xfrm>
              <a:off x="804275" y="24835"/>
              <a:ext cx="9549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Задание 2. Заполн</a:t>
              </a:r>
              <a:r>
                <a:rPr b="1" i="1" lang="ru-RU" sz="1800">
                  <a:solidFill>
                    <a:schemeClr val="dk1"/>
                  </a:solidFill>
                </a:rPr>
                <a:t>ите</a:t>
              </a:r>
              <a:r>
                <a:rPr b="1" i="1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таблицу. В левом столбце – названия слоев нейросети</a:t>
              </a:r>
              <a:r>
                <a:rPr b="1" i="1" lang="ru-RU" sz="1800">
                  <a:solidFill>
                    <a:schemeClr val="dk1"/>
                  </a:solidFill>
                </a:rPr>
                <a:t>.</a:t>
              </a:r>
              <a:r>
                <a:rPr b="1" i="1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Вам нужно описать назначение и преимущества каждого из них.</a:t>
              </a:r>
              <a:endParaRPr b="1" i="1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253" name="Google Shape;253;p9"/>
          <p:cNvGraphicFramePr/>
          <p:nvPr/>
        </p:nvGraphicFramePr>
        <p:xfrm>
          <a:off x="272716" y="1106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{59337175-956C-46EF-8E92-5FDD53955E48}</a:tableStyleId>
              </a:tblPr>
              <a:tblGrid>
                <a:gridCol w="3844750"/>
                <a:gridCol w="3844750"/>
                <a:gridCol w="3844750"/>
              </a:tblGrid>
              <a:tr h="75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Слой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Назначение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Преимущества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5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Leaky ReLU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28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PReLU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28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ELU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28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Thresholded ReLU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10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259" name="Google Shape;259;p10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60" name="Google Shape;260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61" name="Google Shape;261;p10"/>
          <p:cNvGraphicFramePr/>
          <p:nvPr/>
        </p:nvGraphicFramePr>
        <p:xfrm>
          <a:off x="272715" y="11550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{59337175-956C-46EF-8E92-5FDD53955E48}</a:tableStyleId>
              </a:tblPr>
              <a:tblGrid>
                <a:gridCol w="3823375"/>
                <a:gridCol w="3823375"/>
                <a:gridCol w="3823375"/>
              </a:tblGrid>
              <a:tr h="98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Слой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Назначение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Преимущества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98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Conv2DTranspose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67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DepthwiseConv2D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67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SeparableConv2D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11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267" name="Google Shape;267;p11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68" name="Google Shape;268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69" name="Google Shape;269;p11"/>
          <p:cNvGraphicFramePr/>
          <p:nvPr/>
        </p:nvGraphicFramePr>
        <p:xfrm>
          <a:off x="272716" y="11389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{59337175-956C-46EF-8E92-5FDD53955E48}</a:tableStyleId>
              </a:tblPr>
              <a:tblGrid>
                <a:gridCol w="3876850"/>
                <a:gridCol w="3876850"/>
                <a:gridCol w="3876850"/>
              </a:tblGrid>
              <a:tr h="137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Слой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Назначение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Преимущества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37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Batch Normalization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33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Layer Normalization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12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275" name="Google Shape;275;p12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76" name="Google Shape;27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77" name="Google Shape;277;p12"/>
          <p:cNvGraphicFramePr/>
          <p:nvPr/>
        </p:nvGraphicFramePr>
        <p:xfrm>
          <a:off x="336883" y="1187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{59337175-956C-46EF-8E92-5FDD53955E48}</a:tableStyleId>
              </a:tblPr>
              <a:tblGrid>
                <a:gridCol w="3742975"/>
                <a:gridCol w="3823475"/>
                <a:gridCol w="3823475"/>
              </a:tblGrid>
              <a:tr h="138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Слой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Назначение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Преимущества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38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AveragePooling2D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351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GlobalAveragePooling2D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13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283" name="Google Shape;283;p13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84" name="Google Shape;284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85" name="Google Shape;285;p13"/>
          <p:cNvGraphicFramePr/>
          <p:nvPr/>
        </p:nvGraphicFramePr>
        <p:xfrm>
          <a:off x="385011" y="10427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{59337175-956C-46EF-8E92-5FDD53955E48}</a:tableStyleId>
              </a:tblPr>
              <a:tblGrid>
                <a:gridCol w="3655300"/>
                <a:gridCol w="3795100"/>
                <a:gridCol w="3795100"/>
              </a:tblGrid>
              <a:tr h="525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Слой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Назначение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Преимущества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25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ActivityRegularization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89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AlphaDropout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89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Dropout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89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GaussianDropout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89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GaussianNoise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89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SpatialDropout2D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14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291" name="Google Shape;291;p14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92" name="Google Shape;29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93" name="Google Shape;293;p14"/>
          <p:cNvGraphicFramePr/>
          <p:nvPr/>
        </p:nvGraphicFramePr>
        <p:xfrm>
          <a:off x="401053" y="11871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{59337175-956C-46EF-8E92-5FDD53955E48}</a:tableStyleId>
              </a:tblPr>
              <a:tblGrid>
                <a:gridCol w="3780600"/>
                <a:gridCol w="3780600"/>
                <a:gridCol w="3780600"/>
              </a:tblGrid>
              <a:tr h="59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Слой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Назначение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cap="none" strike="noStrike"/>
                        <a:t>Преимущества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9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Cropping2D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00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RepeatVector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00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Reshape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00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UpSampling2D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00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ZeroPadding2D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