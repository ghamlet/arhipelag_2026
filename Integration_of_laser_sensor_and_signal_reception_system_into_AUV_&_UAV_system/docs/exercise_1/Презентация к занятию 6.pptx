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Y5+QwnJnI+cdb/jiEdtLG3jM0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fc61a7adf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g2fc61a7adf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r">
              <a:lnSpc>
                <a:spcPct val="103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0853" y="1494938"/>
            <a:ext cx="2434950" cy="445073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5"/>
          <p:cNvSpPr txBox="1"/>
          <p:nvPr/>
        </p:nvSpPr>
        <p:spPr>
          <a:xfrm>
            <a:off x="0" y="0"/>
            <a:ext cx="12192000" cy="3698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EBF7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Игровой автомат на карточках</a:t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6" name="Google Shape;2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086" y="158623"/>
            <a:ext cx="1629946" cy="767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Титульный слайд">
  <p:cSld name="5_Титульный слайд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/>
          <p:nvPr/>
        </p:nvSpPr>
        <p:spPr>
          <a:xfrm>
            <a:off x="1609633" y="442291"/>
            <a:ext cx="8715098" cy="6341064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0535712" y="4179623"/>
            <a:ext cx="1424473" cy="2603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74" y="4179624"/>
            <a:ext cx="1424473" cy="260373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6"/>
          <p:cNvSpPr txBox="1"/>
          <p:nvPr/>
        </p:nvSpPr>
        <p:spPr>
          <a:xfrm>
            <a:off x="0" y="0"/>
            <a:ext cx="12192000" cy="3698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EBF7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  Игровой автомат на карточках</a:t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2" name="Google Shape;3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086" y="158623"/>
            <a:ext cx="1629946" cy="767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37"/>
          <p:cNvCxnSpPr/>
          <p:nvPr/>
        </p:nvCxnSpPr>
        <p:spPr>
          <a:xfrm>
            <a:off x="6096000" y="756745"/>
            <a:ext cx="0" cy="588579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37"/>
          <p:cNvSpPr/>
          <p:nvPr/>
        </p:nvSpPr>
        <p:spPr>
          <a:xfrm>
            <a:off x="169312" y="671437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7"/>
          <p:cNvSpPr/>
          <p:nvPr/>
        </p:nvSpPr>
        <p:spPr>
          <a:xfrm>
            <a:off x="6274379" y="671437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7"/>
          <p:cNvSpPr txBox="1"/>
          <p:nvPr/>
        </p:nvSpPr>
        <p:spPr>
          <a:xfrm>
            <a:off x="0" y="5233610"/>
            <a:ext cx="12192000" cy="1653622"/>
          </a:xfrm>
          <a:prstGeom prst="rect">
            <a:avLst/>
          </a:prstGeom>
          <a:solidFill>
            <a:srgbClr val="D8D8D8">
              <a:alpha val="2235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38" name="Google Shape;38;p37"/>
          <p:cNvGrpSpPr/>
          <p:nvPr/>
        </p:nvGrpSpPr>
        <p:grpSpPr>
          <a:xfrm>
            <a:off x="0" y="0"/>
            <a:ext cx="12192000" cy="554646"/>
            <a:chOff x="0" y="0"/>
            <a:chExt cx="12192000" cy="554646"/>
          </a:xfrm>
        </p:grpSpPr>
        <p:sp>
          <p:nvSpPr>
            <p:cNvPr id="39" name="Google Shape;39;p37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grpSp>
          <p:nvGrpSpPr>
            <p:cNvPr id="40" name="Google Shape;40;p37"/>
            <p:cNvGrpSpPr/>
            <p:nvPr/>
          </p:nvGrpSpPr>
          <p:grpSpPr>
            <a:xfrm>
              <a:off x="9804152" y="20993"/>
              <a:ext cx="1173001" cy="502584"/>
              <a:chOff x="300308" y="5671384"/>
              <a:chExt cx="2120383" cy="908497"/>
            </a:xfrm>
          </p:grpSpPr>
          <p:pic>
            <p:nvPicPr>
              <p:cNvPr id="41" name="Google Shape;41;p37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2" name="Google Shape;42;p37"/>
              <p:cNvCxnSpPr/>
              <p:nvPr/>
            </p:nvCxnSpPr>
            <p:spPr>
              <a:xfrm>
                <a:off x="2420691" y="5769162"/>
                <a:ext cx="0" cy="81071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43" name="Google Shape;4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0795" y="45267"/>
            <a:ext cx="1067563" cy="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7"/>
          <p:cNvSpPr txBox="1"/>
          <p:nvPr/>
        </p:nvSpPr>
        <p:spPr>
          <a:xfrm>
            <a:off x="168402" y="75692"/>
            <a:ext cx="66995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Автоматическая система распознавания объектов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/>
          <p:nvPr/>
        </p:nvSpPr>
        <p:spPr>
          <a:xfrm>
            <a:off x="169312" y="671437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8"/>
          <p:cNvSpPr txBox="1"/>
          <p:nvPr/>
        </p:nvSpPr>
        <p:spPr>
          <a:xfrm>
            <a:off x="0" y="5233610"/>
            <a:ext cx="12192000" cy="1653622"/>
          </a:xfrm>
          <a:prstGeom prst="rect">
            <a:avLst/>
          </a:prstGeom>
          <a:solidFill>
            <a:srgbClr val="D8D8D8">
              <a:alpha val="2235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48" name="Google Shape;48;p38"/>
          <p:cNvGrpSpPr/>
          <p:nvPr/>
        </p:nvGrpSpPr>
        <p:grpSpPr>
          <a:xfrm>
            <a:off x="0" y="0"/>
            <a:ext cx="12192000" cy="554646"/>
            <a:chOff x="0" y="0"/>
            <a:chExt cx="12192000" cy="554646"/>
          </a:xfrm>
        </p:grpSpPr>
        <p:sp>
          <p:nvSpPr>
            <p:cNvPr id="49" name="Google Shape;49;p38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grpSp>
          <p:nvGrpSpPr>
            <p:cNvPr id="50" name="Google Shape;50;p38"/>
            <p:cNvGrpSpPr/>
            <p:nvPr/>
          </p:nvGrpSpPr>
          <p:grpSpPr>
            <a:xfrm>
              <a:off x="9804152" y="20993"/>
              <a:ext cx="1173001" cy="502584"/>
              <a:chOff x="300308" y="5671384"/>
              <a:chExt cx="2120383" cy="908497"/>
            </a:xfrm>
          </p:grpSpPr>
          <p:pic>
            <p:nvPicPr>
              <p:cNvPr id="51" name="Google Shape;51;p38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2" name="Google Shape;52;p38"/>
              <p:cNvCxnSpPr/>
              <p:nvPr/>
            </p:nvCxnSpPr>
            <p:spPr>
              <a:xfrm>
                <a:off x="2420691" y="5769162"/>
                <a:ext cx="0" cy="81071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53" name="Google Shape;5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0795" y="45267"/>
            <a:ext cx="1067563" cy="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8"/>
          <p:cNvSpPr txBox="1"/>
          <p:nvPr/>
        </p:nvSpPr>
        <p:spPr>
          <a:xfrm>
            <a:off x="168402" y="75692"/>
            <a:ext cx="66995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Автоматическая система распознавания объектов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9"/>
          <p:cNvGrpSpPr/>
          <p:nvPr/>
        </p:nvGrpSpPr>
        <p:grpSpPr>
          <a:xfrm>
            <a:off x="241176" y="960440"/>
            <a:ext cx="11709647" cy="4248119"/>
            <a:chOff x="92456" y="1464755"/>
            <a:chExt cx="8799544" cy="2880000"/>
          </a:xfrm>
        </p:grpSpPr>
        <p:sp>
          <p:nvSpPr>
            <p:cNvPr id="57" name="Google Shape;57;p39"/>
            <p:cNvSpPr/>
            <p:nvPr/>
          </p:nvSpPr>
          <p:spPr>
            <a:xfrm>
              <a:off x="4571589" y="1464755"/>
              <a:ext cx="4320411" cy="288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39"/>
            <p:cNvSpPr/>
            <p:nvPr/>
          </p:nvSpPr>
          <p:spPr>
            <a:xfrm>
              <a:off x="92456" y="1464755"/>
              <a:ext cx="4320411" cy="288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39"/>
          <p:cNvSpPr/>
          <p:nvPr/>
        </p:nvSpPr>
        <p:spPr>
          <a:xfrm>
            <a:off x="389942" y="1148752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92555" y="5208559"/>
            <a:ext cx="806890" cy="147487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9"/>
          <p:cNvSpPr txBox="1"/>
          <p:nvPr/>
        </p:nvSpPr>
        <p:spPr>
          <a:xfrm>
            <a:off x="0" y="0"/>
            <a:ext cx="12192000" cy="554646"/>
          </a:xfrm>
          <a:prstGeom prst="rect">
            <a:avLst/>
          </a:prstGeom>
          <a:solidFill>
            <a:srgbClr val="D8D8D8">
              <a:alpha val="1647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62" name="Google Shape;62;p39"/>
          <p:cNvGrpSpPr/>
          <p:nvPr/>
        </p:nvGrpSpPr>
        <p:grpSpPr>
          <a:xfrm>
            <a:off x="9804152" y="20993"/>
            <a:ext cx="2306298" cy="512660"/>
            <a:chOff x="9804152" y="779109"/>
            <a:chExt cx="2306298" cy="512660"/>
          </a:xfrm>
        </p:grpSpPr>
        <p:sp>
          <p:nvSpPr>
            <p:cNvPr id="63" name="Google Shape;63;p39"/>
            <p:cNvSpPr/>
            <p:nvPr/>
          </p:nvSpPr>
          <p:spPr>
            <a:xfrm>
              <a:off x="11560968" y="1021016"/>
              <a:ext cx="64137" cy="64137"/>
            </a:xfrm>
            <a:prstGeom prst="ellipse">
              <a:avLst/>
            </a:prstGeom>
            <a:solidFill>
              <a:srgbClr val="F36A15"/>
            </a:solidFill>
            <a:ln cap="flat" cmpd="sng" w="12700">
              <a:solidFill>
                <a:srgbClr val="F36A1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" name="Google Shape;64;p39"/>
            <p:cNvGrpSpPr/>
            <p:nvPr/>
          </p:nvGrpSpPr>
          <p:grpSpPr>
            <a:xfrm>
              <a:off x="9804152" y="779109"/>
              <a:ext cx="2306298" cy="512660"/>
              <a:chOff x="300308" y="5671384"/>
              <a:chExt cx="4168994" cy="926711"/>
            </a:xfrm>
          </p:grpSpPr>
          <p:pic>
            <p:nvPicPr>
              <p:cNvPr id="65" name="Google Shape;65;p3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6" name="Google Shape;66;p39"/>
              <p:cNvGrpSpPr/>
              <p:nvPr/>
            </p:nvGrpSpPr>
            <p:grpSpPr>
              <a:xfrm>
                <a:off x="2420691" y="5751552"/>
                <a:ext cx="2048611" cy="846543"/>
                <a:chOff x="2420691" y="5751552"/>
                <a:chExt cx="2048611" cy="846543"/>
              </a:xfrm>
            </p:grpSpPr>
            <p:pic>
              <p:nvPicPr>
                <p:cNvPr id="67" name="Google Shape;67;p3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2611287" y="5751552"/>
                  <a:ext cx="1858015" cy="846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68" name="Google Shape;68;p39"/>
                <p:cNvCxnSpPr/>
                <p:nvPr/>
              </p:nvCxnSpPr>
              <p:spPr>
                <a:xfrm>
                  <a:off x="2420691" y="5769162"/>
                  <a:ext cx="0" cy="81071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69" name="Google Shape;69;p39"/>
          <p:cNvSpPr txBox="1"/>
          <p:nvPr/>
        </p:nvSpPr>
        <p:spPr>
          <a:xfrm>
            <a:off x="168403" y="75692"/>
            <a:ext cx="566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Игровой автомат на карточках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40"/>
          <p:cNvGrpSpPr/>
          <p:nvPr/>
        </p:nvGrpSpPr>
        <p:grpSpPr>
          <a:xfrm>
            <a:off x="241176" y="960440"/>
            <a:ext cx="11709647" cy="4248119"/>
            <a:chOff x="92456" y="1464755"/>
            <a:chExt cx="8799544" cy="2880000"/>
          </a:xfrm>
        </p:grpSpPr>
        <p:sp>
          <p:nvSpPr>
            <p:cNvPr id="72" name="Google Shape;72;p40"/>
            <p:cNvSpPr/>
            <p:nvPr/>
          </p:nvSpPr>
          <p:spPr>
            <a:xfrm>
              <a:off x="4571589" y="1464755"/>
              <a:ext cx="4320411" cy="288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40"/>
            <p:cNvSpPr/>
            <p:nvPr/>
          </p:nvSpPr>
          <p:spPr>
            <a:xfrm>
              <a:off x="92456" y="1464755"/>
              <a:ext cx="4320411" cy="28800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40"/>
          <p:cNvSpPr/>
          <p:nvPr/>
        </p:nvSpPr>
        <p:spPr>
          <a:xfrm>
            <a:off x="6382281" y="1103711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92555" y="5208559"/>
            <a:ext cx="806890" cy="147487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0"/>
          <p:cNvSpPr txBox="1"/>
          <p:nvPr/>
        </p:nvSpPr>
        <p:spPr>
          <a:xfrm>
            <a:off x="0" y="0"/>
            <a:ext cx="12192000" cy="554646"/>
          </a:xfrm>
          <a:prstGeom prst="rect">
            <a:avLst/>
          </a:prstGeom>
          <a:solidFill>
            <a:srgbClr val="D8D8D8">
              <a:alpha val="1647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77" name="Google Shape;77;p40"/>
          <p:cNvGrpSpPr/>
          <p:nvPr/>
        </p:nvGrpSpPr>
        <p:grpSpPr>
          <a:xfrm>
            <a:off x="9804152" y="20993"/>
            <a:ext cx="2306298" cy="512660"/>
            <a:chOff x="9804152" y="779109"/>
            <a:chExt cx="2306298" cy="512660"/>
          </a:xfrm>
        </p:grpSpPr>
        <p:sp>
          <p:nvSpPr>
            <p:cNvPr id="78" name="Google Shape;78;p40"/>
            <p:cNvSpPr/>
            <p:nvPr/>
          </p:nvSpPr>
          <p:spPr>
            <a:xfrm>
              <a:off x="11560968" y="1021016"/>
              <a:ext cx="64137" cy="64137"/>
            </a:xfrm>
            <a:prstGeom prst="ellipse">
              <a:avLst/>
            </a:prstGeom>
            <a:solidFill>
              <a:srgbClr val="F36A15"/>
            </a:solidFill>
            <a:ln cap="flat" cmpd="sng" w="12700">
              <a:solidFill>
                <a:srgbClr val="F36A1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" name="Google Shape;79;p40"/>
            <p:cNvGrpSpPr/>
            <p:nvPr/>
          </p:nvGrpSpPr>
          <p:grpSpPr>
            <a:xfrm>
              <a:off x="9804152" y="779109"/>
              <a:ext cx="2306298" cy="512660"/>
              <a:chOff x="300308" y="5671384"/>
              <a:chExt cx="4168994" cy="926711"/>
            </a:xfrm>
          </p:grpSpPr>
          <p:pic>
            <p:nvPicPr>
              <p:cNvPr id="80" name="Google Shape;80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" name="Google Shape;81;p40"/>
              <p:cNvGrpSpPr/>
              <p:nvPr/>
            </p:nvGrpSpPr>
            <p:grpSpPr>
              <a:xfrm>
                <a:off x="2420691" y="5751552"/>
                <a:ext cx="2048611" cy="846543"/>
                <a:chOff x="2420691" y="5751552"/>
                <a:chExt cx="2048611" cy="846543"/>
              </a:xfrm>
            </p:grpSpPr>
            <p:pic>
              <p:nvPicPr>
                <p:cNvPr id="82" name="Google Shape;82;p4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2611287" y="5751552"/>
                  <a:ext cx="1858015" cy="846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83" name="Google Shape;83;p40"/>
                <p:cNvCxnSpPr/>
                <p:nvPr/>
              </p:nvCxnSpPr>
              <p:spPr>
                <a:xfrm>
                  <a:off x="2420691" y="5769162"/>
                  <a:ext cx="0" cy="81071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84" name="Google Shape;84;p40"/>
          <p:cNvSpPr txBox="1"/>
          <p:nvPr/>
        </p:nvSpPr>
        <p:spPr>
          <a:xfrm>
            <a:off x="168403" y="75692"/>
            <a:ext cx="566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Игровой автомат на карточках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Титульный слайд">
  <p:cSld name="6_Титульный слайд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1"/>
          <p:cNvSpPr/>
          <p:nvPr/>
        </p:nvSpPr>
        <p:spPr>
          <a:xfrm>
            <a:off x="3103845" y="960440"/>
            <a:ext cx="5749217" cy="424811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1"/>
          <p:cNvSpPr/>
          <p:nvPr/>
        </p:nvSpPr>
        <p:spPr>
          <a:xfrm>
            <a:off x="3284520" y="1103711"/>
            <a:ext cx="656466" cy="656466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817" y="5208559"/>
            <a:ext cx="806890" cy="147487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1"/>
          <p:cNvSpPr txBox="1"/>
          <p:nvPr/>
        </p:nvSpPr>
        <p:spPr>
          <a:xfrm>
            <a:off x="0" y="0"/>
            <a:ext cx="12192000" cy="554646"/>
          </a:xfrm>
          <a:prstGeom prst="rect">
            <a:avLst/>
          </a:prstGeom>
          <a:solidFill>
            <a:srgbClr val="D8D8D8">
              <a:alpha val="1647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90" name="Google Shape;90;p41"/>
          <p:cNvGrpSpPr/>
          <p:nvPr/>
        </p:nvGrpSpPr>
        <p:grpSpPr>
          <a:xfrm>
            <a:off x="9804152" y="20993"/>
            <a:ext cx="2306298" cy="512660"/>
            <a:chOff x="9804152" y="779109"/>
            <a:chExt cx="2306298" cy="512660"/>
          </a:xfrm>
        </p:grpSpPr>
        <p:sp>
          <p:nvSpPr>
            <p:cNvPr id="91" name="Google Shape;91;p41"/>
            <p:cNvSpPr/>
            <p:nvPr/>
          </p:nvSpPr>
          <p:spPr>
            <a:xfrm>
              <a:off x="11560968" y="1021016"/>
              <a:ext cx="64137" cy="64137"/>
            </a:xfrm>
            <a:prstGeom prst="ellipse">
              <a:avLst/>
            </a:prstGeom>
            <a:solidFill>
              <a:srgbClr val="F36A15"/>
            </a:solidFill>
            <a:ln cap="flat" cmpd="sng" w="12700">
              <a:solidFill>
                <a:srgbClr val="F36A1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" name="Google Shape;92;p41"/>
            <p:cNvGrpSpPr/>
            <p:nvPr/>
          </p:nvGrpSpPr>
          <p:grpSpPr>
            <a:xfrm>
              <a:off x="9804152" y="779109"/>
              <a:ext cx="2306298" cy="512660"/>
              <a:chOff x="300308" y="5671384"/>
              <a:chExt cx="4168994" cy="926711"/>
            </a:xfrm>
          </p:grpSpPr>
          <p:pic>
            <p:nvPicPr>
              <p:cNvPr id="93" name="Google Shape;93;p4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0308" y="5671384"/>
                <a:ext cx="1929788" cy="90849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4" name="Google Shape;94;p41"/>
              <p:cNvGrpSpPr/>
              <p:nvPr/>
            </p:nvGrpSpPr>
            <p:grpSpPr>
              <a:xfrm>
                <a:off x="2420691" y="5751552"/>
                <a:ext cx="2048611" cy="846543"/>
                <a:chOff x="2420691" y="5751552"/>
                <a:chExt cx="2048611" cy="846543"/>
              </a:xfrm>
            </p:grpSpPr>
            <p:pic>
              <p:nvPicPr>
                <p:cNvPr id="95" name="Google Shape;95;p4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2611287" y="5751552"/>
                  <a:ext cx="1858015" cy="846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96" name="Google Shape;96;p41"/>
                <p:cNvCxnSpPr/>
                <p:nvPr/>
              </p:nvCxnSpPr>
              <p:spPr>
                <a:xfrm>
                  <a:off x="2420691" y="5769162"/>
                  <a:ext cx="0" cy="81071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97" name="Google Shape;97;p41"/>
          <p:cNvSpPr txBox="1"/>
          <p:nvPr/>
        </p:nvSpPr>
        <p:spPr>
          <a:xfrm>
            <a:off x="168403" y="75692"/>
            <a:ext cx="566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Игровой автомат на карточках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4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4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4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4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4" name="Google Shape;134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180392" y="1182576"/>
            <a:ext cx="118311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Занятие </a:t>
            </a:r>
            <a:r>
              <a:rPr b="1" lang="ru-RU" sz="4800">
                <a:solidFill>
                  <a:schemeClr val="dk1"/>
                </a:solidFill>
              </a:rPr>
              <a:t>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Изучение новых слоёв сверточной нейросети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0" y="5609891"/>
            <a:ext cx="12192000" cy="1258724"/>
          </a:xfrm>
          <a:prstGeom prst="rect">
            <a:avLst/>
          </a:prstGeom>
          <a:solidFill>
            <a:srgbClr val="D8D8D8">
              <a:alpha val="2235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DEEBF7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64" name="Google Shape;164;p1"/>
          <p:cNvGrpSpPr/>
          <p:nvPr/>
        </p:nvGrpSpPr>
        <p:grpSpPr>
          <a:xfrm>
            <a:off x="580765" y="5837072"/>
            <a:ext cx="1840440" cy="788553"/>
            <a:chOff x="300308" y="5671384"/>
            <a:chExt cx="2120383" cy="908497"/>
          </a:xfrm>
        </p:grpSpPr>
        <p:pic>
          <p:nvPicPr>
            <p:cNvPr id="165" name="Google Shape;165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0308" y="5671384"/>
              <a:ext cx="1929788" cy="90849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6" name="Google Shape;166;p1"/>
            <p:cNvCxnSpPr/>
            <p:nvPr/>
          </p:nvCxnSpPr>
          <p:spPr>
            <a:xfrm>
              <a:off x="2420691" y="5769162"/>
              <a:ext cx="0" cy="81071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LeakyReLU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2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173" name="Google Shape;173;p2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174" name="Google Shape;17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176" name="Google Shape;176;p2"/>
          <p:cNvSpPr txBox="1"/>
          <p:nvPr/>
        </p:nvSpPr>
        <p:spPr>
          <a:xfrm>
            <a:off x="544800" y="1605027"/>
            <a:ext cx="111024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Leaky ReLU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сохраняет положительные значения без изменений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а </a:t>
            </a:r>
            <a:r>
              <a:rPr b="1" lang="ru-RU" sz="2400"/>
              <a:t>отрицательные значения нормализует,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что может помочь избежать проблемы "мертвых нейронов" и улучшить обучение модели.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8343" y="3429000"/>
            <a:ext cx="3235263" cy="21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PReLU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3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184" name="Google Shape;184;p3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185" name="Google Shape;18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3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187" name="Google Shape;187;p3"/>
          <p:cNvSpPr txBox="1"/>
          <p:nvPr/>
        </p:nvSpPr>
        <p:spPr>
          <a:xfrm>
            <a:off x="544800" y="1605027"/>
            <a:ext cx="11102400" cy="13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PReLU -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это обобщение Leaky ReLU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где нор</a:t>
            </a:r>
            <a:r>
              <a:rPr lang="ru-RU" sz="2400"/>
              <a:t>мализация 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отрицательны</a:t>
            </a:r>
            <a:r>
              <a:rPr lang="ru-RU" sz="2400"/>
              <a:t>х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400"/>
              <a:t>значений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является обучаемым параметром, в отличие от фиксированного значения, как в Leaky ReLU.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88" name="Google Shape;1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6541" y="3798459"/>
            <a:ext cx="2398867" cy="1936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 ELU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4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195" name="Google Shape;195;p4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196" name="Google Shape;19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4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198" name="Google Shape;198;p4"/>
          <p:cNvSpPr txBox="1"/>
          <p:nvPr/>
        </p:nvSpPr>
        <p:spPr>
          <a:xfrm>
            <a:off x="544800" y="1605027"/>
            <a:ext cx="11102400" cy="25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ELU также является вариацией ReLU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Она содержит </a:t>
            </a:r>
            <a:r>
              <a:rPr lang="ru-RU" sz="2400"/>
              <a:t>нормализацию 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отрицательных входов и функцию для положительных входов.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ELU может помочь в борьбе с проблемой "умерших" нейронов и обладает свойствами нормализации.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Нормализация в данном контексте означает сохранение баланса в значениях, которые передаются между нейронами.</a:t>
            </a:r>
            <a:endParaRPr b="1"/>
          </a:p>
        </p:txBody>
      </p:sp>
      <p:pic>
        <p:nvPicPr>
          <p:cNvPr id="199" name="Google Shape;19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913" y="4626460"/>
            <a:ext cx="2284174" cy="2084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Thresholded ReLU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5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06" name="Google Shape;206;p5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07" name="Google Shape;207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5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209" name="Google Shape;209;p5"/>
          <p:cNvSpPr txBox="1"/>
          <p:nvPr/>
        </p:nvSpPr>
        <p:spPr>
          <a:xfrm>
            <a:off x="544800" y="1605027"/>
            <a:ext cx="11102400" cy="2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Thresholded ReLU обнуляет все значения, которые меньше определенного порога, и передает положительные значения без изменений.</a:t>
            </a:r>
            <a:endParaRPr b="1" i="0" sz="2400" u="none" cap="none" strike="noStrike">
              <a:solidFill>
                <a:srgbClr val="000000"/>
              </a:solidFill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Thresholded ReLU может быть полезной в определенных сценариях, где важно подавлять маленькие значения.</a:t>
            </a:r>
            <a:endParaRPr/>
          </a:p>
        </p:txBody>
      </p:sp>
      <p:pic>
        <p:nvPicPr>
          <p:cNvPr id="210" name="Google Shape;2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6203" y="3997742"/>
            <a:ext cx="3419593" cy="1580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Conv2DTranspose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6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17" name="Google Shape;217;p6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18" name="Google Shape;21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6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220" name="Google Shape;220;p6"/>
          <p:cNvSpPr txBox="1"/>
          <p:nvPr/>
        </p:nvSpPr>
        <p:spPr>
          <a:xfrm>
            <a:off x="544800" y="1605027"/>
            <a:ext cx="11102400" cy="2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Этот слой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выполняет операцию, обратную операции свертки (Conv2D).</a:t>
            </a:r>
            <a:endParaRPr b="1" i="0" sz="2400" u="none" cap="none" strike="noStrike">
              <a:solidFill>
                <a:srgbClr val="000000"/>
              </a:solidFill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Он используется для увеличения размерности карты признаков.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Conv2DTranspose обычно используется в архитектурах генеративных моделей, таких как GANs (Generative Adversarial Networks) для увеличения разрешения изображений.</a:t>
            </a:r>
            <a:endParaRPr/>
          </a:p>
        </p:txBody>
      </p:sp>
      <p:pic>
        <p:nvPicPr>
          <p:cNvPr id="221" name="Google Shape;2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6976" y="4311477"/>
            <a:ext cx="3097998" cy="1859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DepthwiseConv2D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7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28" name="Google Shape;228;p7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29" name="Google Shape;22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7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231" name="Google Shape;231;p7"/>
          <p:cNvSpPr txBox="1"/>
          <p:nvPr/>
        </p:nvSpPr>
        <p:spPr>
          <a:xfrm>
            <a:off x="330000" y="1569000"/>
            <a:ext cx="11317200" cy="2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Этот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слой выполняет свертку по каждому каналу входных данных отдельно. </a:t>
            </a:r>
            <a:endParaRPr b="1" i="0" sz="2400" u="none" cap="none" strike="noStrike">
              <a:solidFill>
                <a:srgbClr val="000000"/>
              </a:solidFill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Он не смешивает каналы, что делает его вычислительно более эффективным по сравнению с обычным Conv2D.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DepthwiseConv2D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может быть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полезным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 случаях, когда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необходимо сохранить различные характеристики в разных канала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х.</a:t>
            </a:r>
            <a:endParaRPr/>
          </a:p>
        </p:txBody>
      </p:sp>
      <p:pic>
        <p:nvPicPr>
          <p:cNvPr id="232" name="Google Shape;2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4757" y="4323231"/>
            <a:ext cx="2902435" cy="1859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SeparableConv2D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8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39" name="Google Shape;239;p8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40" name="Google Shape;24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8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242" name="Google Shape;242;p8"/>
          <p:cNvSpPr txBox="1"/>
          <p:nvPr/>
        </p:nvSpPr>
        <p:spPr>
          <a:xfrm>
            <a:off x="544800" y="1605027"/>
            <a:ext cx="11102400" cy="25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Этот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слой является комбинацией DepthwiseConv2D и обычного сверточного слоя.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Он применяет depthwise свертку, а затем 1x1 свертку для объединения выходов.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SeparableConv2D также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направлен на снижение вычислительной сложности, сохраняя при этом способность модели извлекать значимые признаки.</a:t>
            </a:r>
            <a:endParaRPr b="1"/>
          </a:p>
        </p:txBody>
      </p:sp>
      <p:pic>
        <p:nvPicPr>
          <p:cNvPr id="243" name="Google Shape;24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5736" y="4307189"/>
            <a:ext cx="3020478" cy="1859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Batch Normalization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9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50" name="Google Shape;250;p9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51" name="Google Shape;25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9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253" name="Google Shape;253;p9"/>
          <p:cNvSpPr txBox="1"/>
          <p:nvPr/>
        </p:nvSpPr>
        <p:spPr>
          <a:xfrm>
            <a:off x="544800" y="1605027"/>
            <a:ext cx="111024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BatchNormalization является методом нормализации, применяемым к активациям нейронов внутри каждого мини-батча обучающих данных. </a:t>
            </a:r>
            <a:endParaRPr b="1" i="0" sz="2400" u="none" cap="none" strike="noStrike">
              <a:solidFill>
                <a:srgbClr val="000000"/>
              </a:solidFill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Мини-батч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это подмножество батча, которое используется для вычислений на каждом шаге обучения.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Он целенаправленно нормализует входные данные, чтобы среднее значение стало близким к нулю, а стандартное отклонение - близким к единице.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BatchNormalization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улучшает стабильность и ускоряет обучение нейронных сетей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позволяя использовать более высокие скорости обучения.</a:t>
            </a:r>
            <a:endParaRPr/>
          </a:p>
        </p:txBody>
      </p:sp>
      <p:pic>
        <p:nvPicPr>
          <p:cNvPr id="254" name="Google Shape;2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2785" y="5252973"/>
            <a:ext cx="3246426" cy="148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Layer Normalization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10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61" name="Google Shape;261;p10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62" name="Google Shape;26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10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264" name="Google Shape;264;p10"/>
          <p:cNvSpPr txBox="1"/>
          <p:nvPr/>
        </p:nvSpPr>
        <p:spPr>
          <a:xfrm>
            <a:off x="544800" y="1605027"/>
            <a:ext cx="11102400" cy="25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LayerNormalization нормализует активации внутри каждого нейрона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рассматривая их как отдельные слои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отличие от BatchNormalization, LayerNormalization не зависит от размера мини-батча и применяется независимо для каждого примера данных.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LayerNormalization полезна, когда размеры мини-батчей варьируются или когда работают с данными переменной длины.</a:t>
            </a:r>
            <a:endParaRPr b="1"/>
          </a:p>
        </p:txBody>
      </p:sp>
      <p:pic>
        <p:nvPicPr>
          <p:cNvPr id="265" name="Google Shape;26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8787" y="4408506"/>
            <a:ext cx="3514375" cy="1688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AveragePooling2D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11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72" name="Google Shape;272;p11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73" name="Google Shape;27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11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275" name="Google Shape;275;p11"/>
          <p:cNvSpPr txBox="1"/>
          <p:nvPr/>
        </p:nvSpPr>
        <p:spPr>
          <a:xfrm>
            <a:off x="544800" y="1605027"/>
            <a:ext cx="111024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AveragePooling2D выполняет операцию усреднения по области пулинга.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каждой области пулинга он вычисляет среднее значение активаций в этой области и использует его в качестве выходного значения.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Этот слой помогает уменьшить размерность входных данных, усредняя информацию в каждой области пулинга.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AveragePooling2D обычно используется для уменьшения размера карт признаков, снижения вычислительной сложности и улучшения инвариантности к масштабу и переводу.</a:t>
            </a:r>
            <a:endParaRPr b="1"/>
          </a:p>
        </p:txBody>
      </p:sp>
      <p:pic>
        <p:nvPicPr>
          <p:cNvPr id="276" name="Google Shape;2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1258" y="5020759"/>
            <a:ext cx="2989480" cy="1724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GlobalAveragePooling2D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p12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83" name="Google Shape;283;p12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84" name="Google Shape;28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12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286" name="Google Shape;286;p12"/>
          <p:cNvSpPr txBox="1"/>
          <p:nvPr/>
        </p:nvSpPr>
        <p:spPr>
          <a:xfrm>
            <a:off x="544800" y="1605027"/>
            <a:ext cx="111024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GlobalAveragePooling2D выполняет аналогичную операцию усреднения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но вместо того, чтобы применять усреднение к каждой области пулинга, он выполняет усреднение по всему пространству признаков.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каждого канала входных данных вычисляется среднее значение по всем пикселям этого канала.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GlobalAveragePooling2D часто используется в архитектурах глубоких нейронных сетей перед полносвязными слоями или слоями классификации, чтобы уменьшить размерность признаков до одного значения на канал.</a:t>
            </a:r>
            <a:endParaRPr b="1"/>
          </a:p>
        </p:txBody>
      </p:sp>
      <p:pic>
        <p:nvPicPr>
          <p:cNvPr id="287" name="Google Shape;2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3053" y="5123947"/>
            <a:ext cx="3805889" cy="173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ActivityRegularization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13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294" name="Google Shape;294;p13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95" name="Google Shape;29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13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297" name="Google Shape;297;p13"/>
          <p:cNvSpPr txBox="1"/>
          <p:nvPr/>
        </p:nvSpPr>
        <p:spPr>
          <a:xfrm>
            <a:off x="544800" y="1866964"/>
            <a:ext cx="111024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ActivityRegularization просто добавляет штраф к общей активации нейронов в слое. </a:t>
            </a:r>
            <a:endParaRPr b="1" i="0" sz="2400" u="none" cap="none" strike="noStrike">
              <a:solidFill>
                <a:srgbClr val="000000"/>
              </a:solidFill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 помогает предотвратить переобучение, убеждая сеть оставаться более разреженной (большинство элементов в слое имеют нулевые значения) в активации.</a:t>
            </a:r>
            <a:endParaRPr/>
          </a:p>
        </p:txBody>
      </p:sp>
      <p:pic>
        <p:nvPicPr>
          <p:cNvPr id="298" name="Google Shape;2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9816" y="4175261"/>
            <a:ext cx="3772368" cy="2002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AlphaDropout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p14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305" name="Google Shape;305;p14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306" name="Google Shape;30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14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308" name="Google Shape;308;p14"/>
          <p:cNvSpPr txBox="1"/>
          <p:nvPr/>
        </p:nvSpPr>
        <p:spPr>
          <a:xfrm>
            <a:off x="544800" y="1605027"/>
            <a:ext cx="11102400" cy="2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AlphaDropout - это вариант слоя Dropout, где случайные нейроны выключаются с учетом альфа-распределени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 (вероятность выключения для каждого нейрона будет более гибкой, чем в обычном Dropout).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 может быть более эффективным в некоторых сценариях, чем обычный Dropout.</a:t>
            </a:r>
            <a:endParaRPr/>
          </a:p>
        </p:txBody>
      </p:sp>
      <p:pic>
        <p:nvPicPr>
          <p:cNvPr id="309" name="Google Shape;3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8312" y="3776228"/>
            <a:ext cx="3235376" cy="182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Dropout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15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316" name="Google Shape;316;p15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317" name="Google Shape;31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15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319" name="Google Shape;319;p15"/>
          <p:cNvSpPr txBox="1"/>
          <p:nvPr/>
        </p:nvSpPr>
        <p:spPr>
          <a:xfrm>
            <a:off x="544800" y="1605027"/>
            <a:ext cx="111024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Dropout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случайным образом "выключает" (устанавливает в ноль) определенное количество нейронов в слое во время обучения.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 помогает предотвратить переобучение и улучшает обобщение модели на новые данные.</a:t>
            </a:r>
            <a:endParaRPr/>
          </a:p>
        </p:txBody>
      </p:sp>
      <p:pic>
        <p:nvPicPr>
          <p:cNvPr id="320" name="Google Shape;3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7413" y="3580095"/>
            <a:ext cx="3017170" cy="2162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GaussianDropout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16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327" name="Google Shape;327;p16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328" name="Google Shape;32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6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330" name="Google Shape;330;p16"/>
          <p:cNvSpPr txBox="1"/>
          <p:nvPr/>
        </p:nvSpPr>
        <p:spPr>
          <a:xfrm>
            <a:off x="544800" y="1605027"/>
            <a:ext cx="11102400" cy="2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GaussianDropout - это вариант Dropout, где значения "выключаемых" нейронов заменяются случайными значениями из гауссовского распределения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(значения не обязательно становятся нулевыми, а могут принимать различные значения).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/>
              <a:t>М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ожет помочь в сохранении более непрерывных характеристик слоя.</a:t>
            </a:r>
            <a:endParaRPr/>
          </a:p>
        </p:txBody>
      </p:sp>
      <p:pic>
        <p:nvPicPr>
          <p:cNvPr id="331" name="Google Shape;3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5057" y="3926640"/>
            <a:ext cx="3421881" cy="1956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GaussianNoise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17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338" name="Google Shape;338;p17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339" name="Google Shape;33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17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341" name="Google Shape;341;p17"/>
          <p:cNvSpPr txBox="1"/>
          <p:nvPr/>
        </p:nvSpPr>
        <p:spPr>
          <a:xfrm>
            <a:off x="544800" y="1605027"/>
            <a:ext cx="111024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Вместо того чтобы обучаться исключительно на "чистых" данных, модель обучается на данных, к которым добавлен случайный шум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(некоторые случайные, непредсказуемые изменения или добавки, которые могут появиться в данных.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контексте изображений это может быть небольшое колебание яркости пикселей). 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Этот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шум может помочь модели лучше справляться с различными вариантами входных данных и делать её более устойчивой к потенциальным шумам или изменениям в реальных данных.</a:t>
            </a:r>
            <a:endParaRPr b="1"/>
          </a:p>
        </p:txBody>
      </p:sp>
      <p:pic>
        <p:nvPicPr>
          <p:cNvPr id="342" name="Google Shape;3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9066" y="5024407"/>
            <a:ext cx="3073818" cy="191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SpatialDropout2D 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8" name="Google Shape;348;p18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349" name="Google Shape;349;p18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350" name="Google Shape;35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1" name="Google Shape;351;p18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352" name="Google Shape;352;p18"/>
          <p:cNvSpPr txBox="1"/>
          <p:nvPr/>
        </p:nvSpPr>
        <p:spPr>
          <a:xfrm>
            <a:off x="544800" y="1605027"/>
            <a:ext cx="111024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SpatialDropout2D - это вариант Dropout для двумерных данных (например, изображений). </a:t>
            </a:r>
            <a:endParaRPr b="1" i="0" sz="2400" u="none" cap="none" strike="noStrike">
              <a:solidFill>
                <a:srgbClr val="000000"/>
              </a:solidFill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отличие от обычного Dropout, он выключает целые каналы признаков, что сохраняет пространственные корреляции в данных.</a:t>
            </a:r>
            <a:endParaRPr/>
          </a:p>
        </p:txBody>
      </p:sp>
      <p:pic>
        <p:nvPicPr>
          <p:cNvPr id="353" name="Google Shape;3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1210" y="3467417"/>
            <a:ext cx="3789580" cy="202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Cropping2D  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" name="Google Shape;359;p19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360" name="Google Shape;360;p19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361" name="Google Shape;36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19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363" name="Google Shape;363;p19"/>
          <p:cNvSpPr txBox="1"/>
          <p:nvPr/>
        </p:nvSpPr>
        <p:spPr>
          <a:xfrm>
            <a:off x="544800" y="1981052"/>
            <a:ext cx="111024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Cropping2D позволяет обрезать входные данные вдоль каждого измерения. </a:t>
            </a:r>
            <a:endParaRPr b="1" i="0" sz="2400" u="none" cap="none" strike="noStrike">
              <a:solidFill>
                <a:srgbClr val="000000"/>
              </a:solidFill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 может быть полезно, например, когда нужно убрать нежелательные края изображения.</a:t>
            </a:r>
            <a:endParaRPr/>
          </a:p>
        </p:txBody>
      </p:sp>
      <p:pic>
        <p:nvPicPr>
          <p:cNvPr id="364" name="Google Shape;3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3616" y="3429000"/>
            <a:ext cx="3244767" cy="1963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RepeatVector   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20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371" name="Google Shape;371;p20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372" name="Google Shape;37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20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374" name="Google Shape;374;p20"/>
          <p:cNvSpPr txBox="1"/>
          <p:nvPr/>
        </p:nvSpPr>
        <p:spPr>
          <a:xfrm>
            <a:off x="544800" y="1605027"/>
            <a:ext cx="111024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RepeatVector повторяет входные данные заданное количество раз по заданному измерению. </a:t>
            </a:r>
            <a:endParaRPr b="1" i="0" sz="2400" u="none" cap="none" strike="noStrike">
              <a:solidFill>
                <a:srgbClr val="000000"/>
              </a:solidFill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 полезно, когда необходимо повторить последовательность для согласования размерности с другими данными.</a:t>
            </a:r>
            <a:endParaRPr/>
          </a:p>
        </p:txBody>
      </p:sp>
      <p:pic>
        <p:nvPicPr>
          <p:cNvPr id="375" name="Google Shape;3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984" y="3675769"/>
            <a:ext cx="3066031" cy="2001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Reshape   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21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382" name="Google Shape;382;p21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383" name="Google Shape;38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21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385" name="Google Shape;385;p21"/>
          <p:cNvSpPr txBox="1"/>
          <p:nvPr/>
        </p:nvSpPr>
        <p:spPr>
          <a:xfrm>
            <a:off x="544800" y="1839002"/>
            <a:ext cx="111024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Reshape изменяет форму (размерность) входных данных.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 может быть полезно, например, при подготовке данных для полносвязных слоев.</a:t>
            </a:r>
            <a:endParaRPr/>
          </a:p>
        </p:txBody>
      </p:sp>
      <p:pic>
        <p:nvPicPr>
          <p:cNvPr id="386" name="Google Shape;3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2401" y="3535173"/>
            <a:ext cx="2907147" cy="212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UpSampling2D    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p22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393" name="Google Shape;393;p22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394" name="Google Shape;39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22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396" name="Google Shape;396;p22"/>
          <p:cNvSpPr txBox="1"/>
          <p:nvPr/>
        </p:nvSpPr>
        <p:spPr>
          <a:xfrm>
            <a:off x="544800" y="1605027"/>
            <a:ext cx="11102400" cy="48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UpSampling2D — это операция, которая увеличивает размер входных данных, используя метод интерполяции.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/>
              <a:t>Ч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то это значит?</a:t>
            </a:r>
            <a:endParaRPr b="1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величение размера означает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2400" u="none" cap="none" strike="noStrike">
                <a:solidFill>
                  <a:srgbClr val="000000"/>
                </a:solidFill>
              </a:rPr>
              <a:t>увеличение размеров изображения или данных.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Например, если у нас есть изображение 4x4 пикселя, то после увеличения размера оно может стать 8x8 пикселей.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Интерполяция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это метод, который используется для оценки значений между существующими значениями.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Когда мы увеличиваем размер данных, нам нужно заполнить новые пиксели, и интерполяция помогает определить, какие значения должны быть между существующими.</a:t>
            </a:r>
            <a:endParaRPr/>
          </a:p>
        </p:txBody>
      </p:sp>
      <p:pic>
        <p:nvPicPr>
          <p:cNvPr id="397" name="Google Shape;3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7022" y="5941060"/>
            <a:ext cx="2551502" cy="1328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3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Слой ZeroPadding2D      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23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404" name="Google Shape;404;p23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405" name="Google Shape;40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" name="Google Shape;406;p23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407" name="Google Shape;407;p23"/>
          <p:cNvSpPr txBox="1"/>
          <p:nvPr/>
        </p:nvSpPr>
        <p:spPr>
          <a:xfrm>
            <a:off x="544800" y="1605027"/>
            <a:ext cx="111024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</a:rPr>
              <a:t>ZeroPadding2D добавляет нули по краям изображения.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Это может быть полезно при обработке сверточных слоев, чтобы управлять размером выходных данных.</a:t>
            </a:r>
            <a:endParaRPr/>
          </a:p>
        </p:txBody>
      </p:sp>
      <p:pic>
        <p:nvPicPr>
          <p:cNvPr id="408" name="Google Shape;4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0885" y="3132972"/>
            <a:ext cx="3630179" cy="2369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4"/>
          <p:cNvSpPr txBox="1"/>
          <p:nvPr/>
        </p:nvSpPr>
        <p:spPr>
          <a:xfrm>
            <a:off x="544801" y="766538"/>
            <a:ext cx="11102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Задание </a:t>
            </a:r>
            <a:r>
              <a:rPr b="1" lang="ru-RU" sz="2800">
                <a:solidFill>
                  <a:schemeClr val="dk1"/>
                </a:solidFill>
              </a:rPr>
              <a:t>1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24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415" name="Google Shape;415;p24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416" name="Google Shape;416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24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418" name="Google Shape;418;p24"/>
          <p:cNvSpPr txBox="1"/>
          <p:nvPr/>
        </p:nvSpPr>
        <p:spPr>
          <a:xfrm>
            <a:off x="544802" y="1575440"/>
            <a:ext cx="11102400" cy="3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Измените структуру нейросети, которую вы сохранили на предыдущих занятиях или откройте проект из папки «</a:t>
            </a:r>
            <a:r>
              <a:rPr lang="ru-RU" sz="2400"/>
              <a:t>p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roject».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Используйте </a:t>
            </a: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изученные на сегодняшнем занятии слои, чтобы улучшить ее работу.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Обучите нейросеть заново.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качестве примера вы можете использовать файл «Презентация для обучающихся».</a:t>
            </a:r>
            <a:endParaRPr/>
          </a:p>
        </p:txBody>
      </p:sp>
      <p:sp>
        <p:nvSpPr>
          <p:cNvPr id="419" name="Google Shape;419;p24"/>
          <p:cNvSpPr txBox="1"/>
          <p:nvPr/>
        </p:nvSpPr>
        <p:spPr>
          <a:xfrm>
            <a:off x="741751" y="554650"/>
            <a:ext cx="11102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fc61a7adf9_0_0"/>
          <p:cNvSpPr txBox="1"/>
          <p:nvPr/>
        </p:nvSpPr>
        <p:spPr>
          <a:xfrm>
            <a:off x="544801" y="974975"/>
            <a:ext cx="111024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Задание </a:t>
            </a:r>
            <a:r>
              <a:rPr b="1" lang="ru-RU" sz="2800">
                <a:solidFill>
                  <a:schemeClr val="dk1"/>
                </a:solidFill>
              </a:rPr>
              <a:t>2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5" name="Google Shape;425;g2fc61a7adf9_0_0"/>
          <p:cNvGrpSpPr/>
          <p:nvPr/>
        </p:nvGrpSpPr>
        <p:grpSpPr>
          <a:xfrm>
            <a:off x="99975" y="0"/>
            <a:ext cx="12192000" cy="528615"/>
            <a:chOff x="0" y="0"/>
            <a:chExt cx="12192000" cy="528615"/>
          </a:xfrm>
        </p:grpSpPr>
        <p:sp>
          <p:nvSpPr>
            <p:cNvPr id="426" name="Google Shape;426;g2fc61a7adf9_0_0"/>
            <p:cNvSpPr txBox="1"/>
            <p:nvPr/>
          </p:nvSpPr>
          <p:spPr>
            <a:xfrm>
              <a:off x="0" y="0"/>
              <a:ext cx="12192000" cy="369300"/>
            </a:xfrm>
            <a:prstGeom prst="rect">
              <a:avLst/>
            </a:prstGeom>
            <a:solidFill>
              <a:srgbClr val="D8D8D8">
                <a:alpha val="2235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427" name="Google Shape;427;g2fc61a7adf9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5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g2fc61a7adf9_0_0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429" name="Google Shape;429;g2fc61a7adf9_0_0"/>
          <p:cNvSpPr txBox="1"/>
          <p:nvPr/>
        </p:nvSpPr>
        <p:spPr>
          <a:xfrm>
            <a:off x="544802" y="2376190"/>
            <a:ext cx="11102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/>
              <a:t>Заполните таблицу. В левом столбце - названия слоев нейросети, вам нужно описать назначение и преимущества каждого из них.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 txBox="1"/>
          <p:nvPr/>
        </p:nvSpPr>
        <p:spPr>
          <a:xfrm>
            <a:off x="544801" y="974975"/>
            <a:ext cx="11102398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Закрепление изученного учебного материала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31"/>
          <p:cNvGrpSpPr/>
          <p:nvPr/>
        </p:nvGrpSpPr>
        <p:grpSpPr>
          <a:xfrm>
            <a:off x="99975" y="0"/>
            <a:ext cx="12192000" cy="554646"/>
            <a:chOff x="0" y="0"/>
            <a:chExt cx="12192000" cy="554646"/>
          </a:xfrm>
        </p:grpSpPr>
        <p:sp>
          <p:nvSpPr>
            <p:cNvPr id="436" name="Google Shape;436;p31"/>
            <p:cNvSpPr txBox="1"/>
            <p:nvPr/>
          </p:nvSpPr>
          <p:spPr>
            <a:xfrm>
              <a:off x="0" y="0"/>
              <a:ext cx="12192000" cy="554646"/>
            </a:xfrm>
            <a:prstGeom prst="rect">
              <a:avLst/>
            </a:prstGeom>
            <a:solidFill>
              <a:srgbClr val="D8D8D8">
                <a:alpha val="2235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EEBF7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437" name="Google Shape;437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24487" y="26031"/>
              <a:ext cx="1067563" cy="5025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31"/>
            <p:cNvSpPr txBox="1"/>
            <p:nvPr/>
          </p:nvSpPr>
          <p:spPr>
            <a:xfrm>
              <a:off x="0" y="20993"/>
              <a:ext cx="95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Практическая работа</a:t>
              </a:r>
              <a:endParaRPr/>
            </a:p>
          </p:txBody>
        </p:sp>
      </p:grpSp>
      <p:sp>
        <p:nvSpPr>
          <p:cNvPr id="439" name="Google Shape;439;p31"/>
          <p:cNvSpPr txBox="1"/>
          <p:nvPr/>
        </p:nvSpPr>
        <p:spPr>
          <a:xfrm>
            <a:off x="487796" y="2827374"/>
            <a:ext cx="11416357" cy="149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Какие результаты вы получили после обучения вашей нейронной сети?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Достаточно ли хорошо работает обученная вами нейросеть? Почему?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Улучшила ли нейросеть свои показания после того, как мы изменили ее структуру? Почему?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